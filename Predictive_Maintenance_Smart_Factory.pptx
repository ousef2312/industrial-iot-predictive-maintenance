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30ACB57-E43B-6A51-1215-8B787A847EEE}">
          <p14:sldIdLst/>
        </p14:section>
        <p14:section name="Context" id="{C9A75C27-064E-33F1-B7F2-640381F6E337}">
          <p14:sldIdLst>
            <p14:sldId id="256"/>
            <p14:sldId id="257"/>
          </p14:sldIdLst>
        </p14:section>
        <p14:section name="Data" id="{3394BBF6-EEE7-5867-D33F-704C5752194B}">
          <p14:sldIdLst>
            <p14:sldId id="258"/>
          </p14:sldIdLst>
        </p14:section>
        <p14:section name="Method" id="{A0E449C8-D11B-3215-9DD5-68793F26B553}">
          <p14:sldIdLst>
            <p14:sldId id="259"/>
            <p14:sldId id="260"/>
            <p14:sldId id="261"/>
          </p14:sldIdLst>
        </p14:section>
        <p14:section name="Results" id="{19E18D84-0A4C-435F-4341-F54754A860CB}">
          <p14:sldIdLst>
            <p14:sldId id="262"/>
            <p14:sldId id="263"/>
            <p14:sldId id="264"/>
          </p14:sldIdLst>
        </p14:section>
        <p14:section name="Value" id="{5ADF1C12-3575-4DD5-8D61-0E552CA219C8}">
          <p14:sldIdLst>
            <p14:sldId id="265"/>
          </p14:sldIdLst>
        </p14:section>
        <p14:section name="Delivery" id="{6BD5A2C9-680C-0E6D-E4B1-29D74D4D9F8F}">
          <p14:sldIdLst>
            <p14:sldId id="266"/>
          </p14:sldIdLst>
        </p14:section>
        <p14:section name="Evaluation" id="{AFF62BB9-FDB6-AF2E-9FE6-AF822E2E2A7D}">
          <p14:sldIdLst>
            <p14:sldId id="267"/>
            <p14:sldId id="268"/>
          </p14:sldIdLst>
        </p14:section>
        <p14:section name="Value" id="{A6C0333B-7C10-E5EF-CC90-C1D345D920F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ln w="12700" cap="flat">
                <a:solidFill>
                  <a:srgbClr val="070B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7B-457F-AA0A-833978AB532F}"/>
              </c:ext>
            </c:extLst>
          </c:dPt>
          <c:dPt>
            <c:idx val="1"/>
            <c:bubble3D val="0"/>
            <c:spPr>
              <a:solidFill>
                <a:srgbClr val="F43F9D"/>
              </a:solidFill>
              <a:ln w="12700" cap="flat">
                <a:solidFill>
                  <a:srgbClr val="070B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07B-457F-AA0A-833978AB532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B1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7B-457F-AA0A-833978AB532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B1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7B-457F-AA0A-833978AB532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failure</c:v>
                </c:pt>
                <c:pt idx="1">
                  <c:v>Failure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9661</c:v>
                </c:pt>
                <c:pt idx="1">
                  <c:v>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7B-457F-AA0A-833978AB5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9D3F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0.86450000000000005</c:v>
                </c:pt>
                <c:pt idx="1">
                  <c:v>0.18379999999999999</c:v>
                </c:pt>
                <c:pt idx="2">
                  <c:v>0.86760000000000004</c:v>
                </c:pt>
                <c:pt idx="3">
                  <c:v>0.30330000000000001</c:v>
                </c:pt>
                <c:pt idx="4">
                  <c:v>0.93600000000000005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1A-4758-A88B-5C74540A4C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0.97450000000000003</c:v>
                </c:pt>
                <c:pt idx="1">
                  <c:v>0.58589999999999998</c:v>
                </c:pt>
                <c:pt idx="2">
                  <c:v>0.85289999999999999</c:v>
                </c:pt>
                <c:pt idx="3">
                  <c:v>0.6946</c:v>
                </c:pt>
                <c:pt idx="4">
                  <c:v>0.98550000000000004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1A-4758-A88B-5C74540A4C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F43F9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0.97950000000000004</c:v>
                </c:pt>
                <c:pt idx="1">
                  <c:v>0.66669999999999996</c:v>
                </c:pt>
                <c:pt idx="2">
                  <c:v>0.79410000000000003</c:v>
                </c:pt>
                <c:pt idx="3">
                  <c:v>0.7248</c:v>
                </c:pt>
                <c:pt idx="4">
                  <c:v>0.98089999999999999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1A-4758-A88B-5C74540A4C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3F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2A35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3F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9D3F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F43F9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C4-44AD-B17A-62AD6A04D508}"/>
              </c:ext>
            </c:extLst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C4-44AD-B17A-62AD6A04D50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Without AI</c:v>
                </c:pt>
                <c:pt idx="1">
                  <c:v>With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41.37</c:v>
                </c:pt>
                <c:pt idx="1">
                  <c:v>9.99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C4-44AD-B17A-62AD6A04D5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3F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02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6583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2D3EE"/>
                </a:solidFill>
              </a:rPr>
              <a:t>AI FOR INDUSTRY 4.0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041361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Predictive Maintenance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22D3EE"/>
                </a:solidFill>
              </a:rPr>
              <a:t>for the Smart Factory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6839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A machine-learning system that predicts industrial machine failures before they stop the line.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384048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3904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10,000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E3"/>
                </a:solidFill>
              </a:rPr>
              <a:t>sensor records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2029968" y="384048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029968" y="3904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020"/>
                </a:solidFill>
              </a:rPr>
              <a:t>0.98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029968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E3"/>
                </a:solidFill>
              </a:rPr>
              <a:t>ROC-AUC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3511296" y="384048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511296" y="3904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E3"/>
                </a:solidFill>
              </a:rPr>
              <a:t>failures caught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4992624" y="384048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92624" y="3904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020"/>
                </a:solidFill>
              </a:rPr>
              <a:t>75.8%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992624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E3"/>
                </a:solidFill>
              </a:rPr>
              <a:t>cost saved</a:t>
            </a:r>
            <a:endParaRPr lang="en-US" sz="1100" dirty="0"/>
          </a:p>
        </p:txBody>
      </p:sp>
      <p:sp>
        <p:nvSpPr>
          <p:cNvPr id="17" name="ring"/>
          <p:cNvSpPr/>
          <p:nvPr/>
        </p:nvSpPr>
        <p:spPr>
          <a:xfrm>
            <a:off x="6995160" y="1645920"/>
            <a:ext cx="2953512" cy="295351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ing"/>
          <p:cNvSpPr/>
          <p:nvPr/>
        </p:nvSpPr>
        <p:spPr>
          <a:xfrm>
            <a:off x="7223760" y="1874520"/>
            <a:ext cx="2084832" cy="208483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ing"/>
          <p:cNvSpPr/>
          <p:nvPr/>
        </p:nvSpPr>
        <p:spPr>
          <a:xfrm>
            <a:off x="7452360" y="2103120"/>
            <a:ext cx="1216152" cy="121615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iconbg"/>
          <p:cNvSpPr/>
          <p:nvPr/>
        </p:nvSpPr>
        <p:spPr>
          <a:xfrm>
            <a:off x="7612380" y="2268064"/>
            <a:ext cx="822960" cy="822960"/>
          </a:xfrm>
          <a:prstGeom prst="ellipse">
            <a:avLst/>
          </a:prstGeom>
          <a:solidFill>
            <a:srgbClr val="F43F9D"/>
          </a:solidFill>
          <a:ln w="12700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473804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Yousef Abdallah Khamis  |  AI &amp; Machine Learning Engineer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01  THE PROBLEM AND THE IDEA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reacting to predicting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</a:rPr>
              <a:t>10,000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E3"/>
                </a:solidFill>
              </a:rPr>
              <a:t>machine records analysed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46120" y="13258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24612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3F9D"/>
                </a:solidFill>
              </a:rPr>
              <a:t>3.39%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E3"/>
                </a:solidFill>
              </a:rPr>
              <a:t>are failures: a needle in a haystack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035040" y="13258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03504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020"/>
                </a:solidFill>
              </a:rPr>
              <a:t>50,000 EGP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E3"/>
                </a:solidFill>
              </a:rPr>
              <a:t>assumed cost of one unplanned stop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651760"/>
            <a:ext cx="4046220" cy="1965960"/>
          </a:xfrm>
          <a:prstGeom prst="roundRect">
            <a:avLst>
              <a:gd name="adj" fmla="val 5581"/>
            </a:avLst>
          </a:prstGeom>
          <a:solidFill>
            <a:srgbClr val="F43F9D">
              <a:alpha val="12000"/>
            </a:srgbClr>
          </a:solidFill>
          <a:ln w="9525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4640580" y="2651760"/>
            <a:ext cx="4046220" cy="1965960"/>
          </a:xfrm>
          <a:prstGeom prst="roundRect">
            <a:avLst>
              <a:gd name="adj" fmla="val 5581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conbg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F43F9D"/>
          </a:solidFill>
          <a:ln w="12700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891790"/>
            <a:ext cx="205740" cy="205740"/>
          </a:xfrm>
          <a:prstGeom prst="rect">
            <a:avLst/>
          </a:prstGeom>
        </p:spPr>
      </p:pic>
      <p:sp>
        <p:nvSpPr>
          <p:cNvPr id="17" name="iconbg"/>
          <p:cNvSpPr/>
          <p:nvPr/>
        </p:nvSpPr>
        <p:spPr>
          <a:xfrm>
            <a:off x="4823460" y="2788920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330" y="2891790"/>
            <a:ext cx="205740" cy="2057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8872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Reactive maintenance (today)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537210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Predictive maintenance (this project)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Fix the machine after it breaks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Unplanned line stoppage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Cost on test set: 3.4M EGP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86918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Sensors feed a model that outputs a risk score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Service only machines at risk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Cost on test set: 0.82M EGP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02  INPUTS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AI4I 2020 dataset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iconbg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5773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Sensors (5)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7007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Air temp [K], Process temp [K], Rotational speed [rpm], Torque [Nm], Tool wear [min]</a:t>
            </a:r>
            <a:endParaRPr lang="en-US" sz="1200" dirty="0"/>
          </a:p>
        </p:txBody>
      </p:sp>
      <p:sp>
        <p:nvSpPr>
          <p:cNvPr id="9" name="iconbg"/>
          <p:cNvSpPr/>
          <p:nvPr/>
        </p:nvSpPr>
        <p:spPr>
          <a:xfrm>
            <a:off x="640080" y="2249424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363724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231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 type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24871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L (60%), M (30%), H (10%) quality variants</a:t>
            </a:r>
            <a:endParaRPr lang="en-US" sz="1200" dirty="0"/>
          </a:p>
        </p:txBody>
      </p:sp>
      <p:sp>
        <p:nvSpPr>
          <p:cNvPr id="13" name="iconbg"/>
          <p:cNvSpPr/>
          <p:nvPr/>
        </p:nvSpPr>
        <p:spPr>
          <a:xfrm>
            <a:off x="640080" y="3035808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150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Identifiers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32735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UDI and Product ID: dropped before modelling</a:t>
            </a:r>
            <a:endParaRPr lang="en-US" sz="1200" dirty="0"/>
          </a:p>
        </p:txBody>
      </p:sp>
      <p:sp>
        <p:nvSpPr>
          <p:cNvPr id="17" name="iconbg"/>
          <p:cNvSpPr/>
          <p:nvPr/>
        </p:nvSpPr>
        <p:spPr>
          <a:xfrm>
            <a:off x="640080" y="3822192"/>
            <a:ext cx="457200" cy="457200"/>
          </a:xfrm>
          <a:prstGeom prst="ellipse">
            <a:avLst/>
          </a:prstGeom>
          <a:solidFill>
            <a:srgbClr val="F43F9D"/>
          </a:solidFill>
          <a:ln w="12700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93649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803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Labels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280160" y="40599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Machine failure plus 5 modes: TWF, HDF, PWF, OSF, RNF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5486400" y="132588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54864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Target: Machine failure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5577840" y="1691640"/>
          <a:ext cx="30175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54864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020"/>
                </a:solidFill>
              </a:rPr>
              <a:t>Imbalance ratio about 28 : 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03  HOW IT WORKS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Six steps from raw data to decisions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um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Load and inspect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F5"/>
                </a:solidFill>
              </a:rPr>
              <a:t>10,000 rows x 14 columns, 0 missing values, 0 duplicates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4612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um"/>
          <p:cNvSpPr/>
          <p:nvPr/>
        </p:nvSpPr>
        <p:spPr>
          <a:xfrm>
            <a:off x="3429000" y="150876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290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Explore (EDA)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F5"/>
                </a:solidFill>
              </a:rPr>
              <a:t>Target imbalance, failure modes, correlations, box plots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03504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num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F43F9D"/>
          </a:solidFill>
          <a:ln w="12700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Feature engineering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F5"/>
                </a:solidFill>
              </a:rPr>
              <a:t>5 physics-based features + type encoding = 11 inputs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num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Split and SMOTE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F5"/>
                </a:solidFill>
              </a:rPr>
              <a:t>80/20 stratified split; SMOTE on train only: 8,000 to 15,458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num"/>
          <p:cNvSpPr/>
          <p:nvPr/>
        </p:nvSpPr>
        <p:spPr>
          <a:xfrm>
            <a:off x="3429000" y="3200400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34290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 3 models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49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F5"/>
                </a:solidFill>
              </a:rPr>
              <a:t>Logistic Regression, Random Forest, XGBoost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num"/>
          <p:cNvSpPr/>
          <p:nvPr/>
        </p:nvSpPr>
        <p:spPr>
          <a:xfrm>
            <a:off x="6217920" y="320040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2179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Explain and value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749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F5"/>
                </a:solidFill>
              </a:rPr>
              <a:t>SHAP, Isolation Forest, cost-benefit in EGP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26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04  HOW TO RUN 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Five steps in Google Colab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4480560" cy="576072"/>
          </a:xfrm>
          <a:prstGeom prst="roundRect">
            <a:avLst>
              <a:gd name="adj" fmla="val 190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um"/>
          <p:cNvSpPr/>
          <p:nvPr/>
        </p:nvSpPr>
        <p:spPr>
          <a:xfrm>
            <a:off x="566928" y="1408176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1408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25880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Upload archive.zip (contains ai4i2020.csv) to Google Drive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57200" y="1993392"/>
            <a:ext cx="4480560" cy="576072"/>
          </a:xfrm>
          <a:prstGeom prst="roundRect">
            <a:avLst>
              <a:gd name="adj" fmla="val 190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um"/>
          <p:cNvSpPr/>
          <p:nvPr/>
        </p:nvSpPr>
        <p:spPr>
          <a:xfrm>
            <a:off x="566928" y="2075688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6928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993392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Open the notebook in Colab and mount Drive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457200" y="2660904"/>
            <a:ext cx="4480560" cy="576072"/>
          </a:xfrm>
          <a:prstGeom prst="roundRect">
            <a:avLst>
              <a:gd name="adj" fmla="val 190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um"/>
          <p:cNvSpPr/>
          <p:nvPr/>
        </p:nvSpPr>
        <p:spPr>
          <a:xfrm>
            <a:off x="566928" y="2743200"/>
            <a:ext cx="411480" cy="411480"/>
          </a:xfrm>
          <a:prstGeom prst="ellipse">
            <a:avLst/>
          </a:prstGeom>
          <a:solidFill>
            <a:srgbClr val="F43F9D"/>
          </a:solidFill>
          <a:ln w="12700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66928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660904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Install the requirements (xgboost, shap, imbalanced-learn)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57200" y="3328416"/>
            <a:ext cx="4480560" cy="576072"/>
          </a:xfrm>
          <a:prstGeom prst="roundRect">
            <a:avLst>
              <a:gd name="adj" fmla="val 190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num"/>
          <p:cNvSpPr/>
          <p:nvPr/>
        </p:nvSpPr>
        <p:spPr>
          <a:xfrm>
            <a:off x="566928" y="3410712"/>
            <a:ext cx="411480" cy="41148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6692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328416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Run cells 1 to 10 in order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457200" y="3995928"/>
            <a:ext cx="4480560" cy="576072"/>
          </a:xfrm>
          <a:prstGeom prst="roundRect">
            <a:avLst>
              <a:gd name="adj" fmla="val 190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num"/>
          <p:cNvSpPr/>
          <p:nvPr/>
        </p:nvSpPr>
        <p:spPr>
          <a:xfrm>
            <a:off x="566928" y="4078224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66928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B1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995928"/>
            <a:ext cx="3749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Download predictive_maintenance_project.zip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5166360" y="13258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349240" y="1481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17739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pandas numpy matplotlib seaborn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20665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scikit-learn imbalanced-learn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2359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xgboost shap joblib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2651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fastapi uvicorn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9443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2369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training time (CPU)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35295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Logistic Reg.    0.18 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 Forest    7.69 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XGBoost          0.55 s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26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05  FEATURE ENGINEERING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Physics turned into features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iconbg"/>
          <p:cNvSpPr/>
          <p:nvPr/>
        </p:nvSpPr>
        <p:spPr>
          <a:xfrm>
            <a:off x="566928" y="1353312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458468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2801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Temp_Difference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280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temp - Air temp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280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E3"/>
                </a:solidFill>
              </a:rPr>
              <a:t>Cooling efficiency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iconbg"/>
          <p:cNvSpPr/>
          <p:nvPr/>
        </p:nvSpPr>
        <p:spPr>
          <a:xfrm>
            <a:off x="566928" y="2011680"/>
            <a:ext cx="420624" cy="420624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11683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1938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Power_W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200400" y="19385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Torque x RPM x 2pi / 60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035040" y="19385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E3"/>
                </a:solidFill>
              </a:rPr>
              <a:t>Mechanical power in watts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57200" y="2596896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conbg"/>
          <p:cNvSpPr/>
          <p:nvPr/>
        </p:nvSpPr>
        <p:spPr>
          <a:xfrm>
            <a:off x="566928" y="2670048"/>
            <a:ext cx="420624" cy="420624"/>
          </a:xfrm>
          <a:prstGeom prst="ellipse">
            <a:avLst/>
          </a:prstGeom>
          <a:solidFill>
            <a:srgbClr val="F43F9D"/>
          </a:solidFill>
          <a:ln w="12700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277520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43000" y="25968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Tool_Stress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200400" y="2596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wear x Torque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035040" y="25968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E3"/>
                </a:solidFill>
              </a:rPr>
              <a:t>Load on the cutting tool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457200" y="3255264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conbg"/>
          <p:cNvSpPr/>
          <p:nvPr/>
        </p:nvSpPr>
        <p:spPr>
          <a:xfrm>
            <a:off x="566928" y="3328416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3433572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43000" y="3255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Wear_per_RPM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3200400" y="32552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wear / (RPM + 1)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035040" y="32552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E3"/>
                </a:solidFill>
              </a:rPr>
              <a:t>Wear per rotation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457200" y="3913632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iconbg"/>
          <p:cNvSpPr/>
          <p:nvPr/>
        </p:nvSpPr>
        <p:spPr>
          <a:xfrm>
            <a:off x="566928" y="3986784"/>
            <a:ext cx="420624" cy="42062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" y="4091940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143000" y="39136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Thermal_Load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3200400" y="39136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Temp_Difference x Power_W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6035040" y="39136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E3"/>
                </a:solidFill>
              </a:rPr>
              <a:t>Heat generated under load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B020"/>
                </a:solidFill>
              </a:rPr>
              <a:t>Plus Type_Encoded (H=0, L=1, M=2) = 11 model inputs. Three of the top-5 SHAP features are engineered.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26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06  RESULTS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XGBoost wins on balance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89788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</a:rPr>
              <a:t>XGBoost: selected model (best F1)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5897880" y="1645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89788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97.95%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E3"/>
                </a:solidFill>
              </a:rPr>
              <a:t>Accuracy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7360920" y="1645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6092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3F9D"/>
                </a:solidFill>
              </a:rPr>
              <a:t>79.4%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E3"/>
                </a:solidFill>
              </a:rPr>
              <a:t>Recall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897880" y="31546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89788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020"/>
                </a:solidFill>
              </a:rPr>
              <a:t>0.725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89788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E3"/>
                </a:solidFill>
              </a:rPr>
              <a:t>F1-Score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7360920" y="31546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36092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</a:rPr>
              <a:t>0.981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36092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E3"/>
                </a:solidFill>
              </a:rPr>
              <a:t>ROC-AUC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slow"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07  ANALYSIS (1/2)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Where the model is right and wrong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34D399">
              <a:alpha val="15000"/>
            </a:srgbClr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D399"/>
                </a:solidFill>
              </a:rPr>
              <a:t>1,905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3F5"/>
                </a:solidFill>
              </a:rPr>
              <a:t>True negative: healthy, correct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2606040" y="132588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B020">
              <a:alpha val="15000"/>
            </a:srgbClr>
          </a:solidFill>
          <a:ln w="9525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6060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020"/>
                </a:solidFill>
              </a:rPr>
              <a:t>27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3F5"/>
                </a:solidFill>
              </a:rPr>
              <a:t>False positive: false alarm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57200" y="292608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43F9D">
              <a:alpha val="15000"/>
            </a:srgbClr>
          </a:solidFill>
          <a:ln w="9525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3F9D"/>
                </a:solidFill>
              </a:rPr>
              <a:t>14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3F5"/>
                </a:solidFill>
              </a:rPr>
              <a:t>False negative: missed failure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2606040" y="292608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22D3EE">
              <a:alpha val="15000"/>
            </a:srgbClr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60604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</a:rPr>
              <a:t>54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3F5"/>
                </a:solidFill>
              </a:rPr>
              <a:t>True positive: failure caught</a:t>
            </a:r>
            <a:endParaRPr lang="en-US" sz="1200" dirty="0"/>
          </a:p>
        </p:txBody>
      </p:sp>
      <p:sp>
        <p:nvSpPr>
          <p:cNvPr id="16" name="iconbg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148590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532120" y="1325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Catches 54 of 68 real failures (79% recall)</a:t>
            </a:r>
            <a:endParaRPr lang="en-US" sz="1300" dirty="0"/>
          </a:p>
        </p:txBody>
      </p:sp>
      <p:sp>
        <p:nvSpPr>
          <p:cNvPr id="19" name="iconbg"/>
          <p:cNvSpPr/>
          <p:nvPr/>
        </p:nvSpPr>
        <p:spPr>
          <a:xfrm>
            <a:off x="4892040" y="219456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230886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32120" y="2148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27 false alarms among 1,932 healthy cases (1.4%)</a:t>
            </a:r>
            <a:endParaRPr lang="en-US" sz="1300" dirty="0"/>
          </a:p>
        </p:txBody>
      </p:sp>
      <p:sp>
        <p:nvSpPr>
          <p:cNvPr id="22" name="iconbg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rgbClr val="F43F9D"/>
          </a:solidFill>
          <a:ln w="12700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313182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532120" y="29718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14 failures missed. Lowering the 0.5 threshold would trade precision for recall</a:t>
            </a:r>
            <a:endParaRPr lang="en-US" sz="1300" dirty="0"/>
          </a:p>
        </p:txBody>
      </p:sp>
      <p:sp>
        <p:nvSpPr>
          <p:cNvPr id="25" name="iconbg"/>
          <p:cNvSpPr/>
          <p:nvPr/>
        </p:nvSpPr>
        <p:spPr>
          <a:xfrm>
            <a:off x="4892040" y="38404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340" y="395478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3212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Isolation Forest flagged 120 samples but found only 34 of 68 failures: a complement, not a replacement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08  ANALYSIS (2/2)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the model decides: SHAP</a:t>
            </a:r>
            <a:endParaRPr lang="en-US" sz="3200" dirty="0"/>
          </a:p>
        </p:txBody>
      </p:sp>
      <p:sp>
        <p:nvSpPr>
          <p:cNvPr id="4" name="imgframe"/>
          <p:cNvSpPr/>
          <p:nvPr/>
        </p:nvSpPr>
        <p:spPr>
          <a:xfrm>
            <a:off x="457358" y="1280160"/>
            <a:ext cx="4489389" cy="3392424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c7_13.png" descr="/tmp/imgs/c7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10" y="1353312"/>
            <a:ext cx="4343085" cy="324612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5166360" y="13258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34924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Top-5 drivers (mean |SHAP|)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Tool wear [min]</a:t>
            </a:r>
            <a:endParaRPr lang="en-US" sz="1300" dirty="0"/>
          </a:p>
        </p:txBody>
      </p:sp>
      <p:sp>
        <p:nvSpPr>
          <p:cNvPr id="9" name="bar"/>
          <p:cNvSpPr/>
          <p:nvPr/>
        </p:nvSpPr>
        <p:spPr>
          <a:xfrm>
            <a:off x="6995160" y="1892808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183880" y="1828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1.55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Rotational speed</a:t>
            </a:r>
            <a:endParaRPr lang="en-US" sz="1300" dirty="0"/>
          </a:p>
        </p:txBody>
      </p:sp>
      <p:sp>
        <p:nvSpPr>
          <p:cNvPr id="12" name="bar"/>
          <p:cNvSpPr/>
          <p:nvPr/>
        </p:nvSpPr>
        <p:spPr>
          <a:xfrm>
            <a:off x="6995160" y="2368296"/>
            <a:ext cx="934516" cy="18288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183880" y="2304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1.32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27797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Power_W *</a:t>
            </a:r>
            <a:endParaRPr lang="en-US" sz="1300" dirty="0"/>
          </a:p>
        </p:txBody>
      </p:sp>
      <p:sp>
        <p:nvSpPr>
          <p:cNvPr id="15" name="bar"/>
          <p:cNvSpPr/>
          <p:nvPr/>
        </p:nvSpPr>
        <p:spPr>
          <a:xfrm>
            <a:off x="6995160" y="2843784"/>
            <a:ext cx="770411" cy="182880"/>
          </a:xfrm>
          <a:prstGeom prst="roundRect">
            <a:avLst>
              <a:gd name="adj" fmla="val 25000"/>
            </a:avLst>
          </a:prstGeom>
          <a:solidFill>
            <a:srgbClr val="F43F9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183880" y="27797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1.09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3255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Temp_Difference *</a:t>
            </a:r>
            <a:endParaRPr lang="en-US" sz="1300" dirty="0"/>
          </a:p>
        </p:txBody>
      </p:sp>
      <p:sp>
        <p:nvSpPr>
          <p:cNvPr id="18" name="bar"/>
          <p:cNvSpPr/>
          <p:nvPr/>
        </p:nvSpPr>
        <p:spPr>
          <a:xfrm>
            <a:off x="6995160" y="3319272"/>
            <a:ext cx="628046" cy="182880"/>
          </a:xfrm>
          <a:prstGeom prst="roundRect">
            <a:avLst>
              <a:gd name="adj" fmla="val 25000"/>
            </a:avLst>
          </a:prstGeom>
          <a:solidFill>
            <a:srgbClr val="FFB0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183880" y="32552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0.89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3730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Tool_Stress *</a:t>
            </a:r>
            <a:endParaRPr lang="en-US" sz="1300" dirty="0"/>
          </a:p>
        </p:txBody>
      </p:sp>
      <p:sp>
        <p:nvSpPr>
          <p:cNvPr id="21" name="bar"/>
          <p:cNvSpPr/>
          <p:nvPr/>
        </p:nvSpPr>
        <p:spPr>
          <a:xfrm>
            <a:off x="6995160" y="3794760"/>
            <a:ext cx="460694" cy="182880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183880" y="3730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0.65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349240" y="41148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B020"/>
                </a:solidFill>
              </a:rPr>
              <a:t>* engineered feature. Physics-based features rank among the top drivers, so the model learned real mechanics rather than noise.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09  BUSINESS IMPACT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the model is worth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4389120" cy="3291840"/>
          </a:xfrm>
          <a:prstGeom prst="roundRect">
            <a:avLst>
              <a:gd name="adj" fmla="val 3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Projected annual cost (million EGP)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37360"/>
          <a:ext cx="420624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120640" y="1280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4D399"/>
                </a:solidFill>
              </a:rPr>
              <a:t>75.8%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maintenance cost reduction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2D3EE"/>
                </a:solidFill>
              </a:rPr>
              <a:t>31.4M EGP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EB9E3"/>
                </a:solidFill>
              </a:rPr>
              <a:t>saved per year (extrapolated)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120640" y="352044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FB020">
              <a:alpha val="12000"/>
            </a:srgbClr>
          </a:solidFill>
          <a:ln w="9525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257800" y="35844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Assumptions (editable): 50,000 EGP per unplanned failure, 2,000 EGP preventive fix, 500 EGP per false alarm; the 2,000-sample test set stands for one month.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10  OUTPUTS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the project delivers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xgboost_model.pkl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09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9E3"/>
                </a:solidFill>
              </a:rPr>
              <a:t>Trained classifier, 440 KB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2651760" y="1325880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761488" y="14173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scaler.pkl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61488" y="1709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9E3"/>
                </a:solidFill>
              </a:rPr>
              <a:t>StandardScaler for new data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457200" y="2167128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66928" y="22585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features.json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551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9E3"/>
                </a:solidFill>
              </a:rPr>
              <a:t>The 11 input features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2651760" y="2167128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761488" y="22585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results.json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61488" y="2551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9E3"/>
                </a:solidFill>
              </a:rPr>
              <a:t>Metrics of all 3 models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457200" y="3008376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66928" y="30998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summary.json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3924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9E3"/>
                </a:solidFill>
              </a:rPr>
              <a:t>Best model, savings, top features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2651760" y="3008376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761488" y="30998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requirements.txt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61488" y="33924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9E3"/>
                </a:solidFill>
              </a:rPr>
              <a:t>Python dependencies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457200" y="3849624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66928" y="39410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README.md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9E3"/>
                </a:solidFill>
              </a:rPr>
              <a:t>Project documentation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2651760" y="3849624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2761488" y="39410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project .zip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761488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9E3"/>
                </a:solidFill>
              </a:rPr>
              <a:t>Everything in one download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4983480" y="1325880"/>
            <a:ext cx="3703320" cy="3291840"/>
          </a:xfrm>
          <a:prstGeom prst="roundRect">
            <a:avLst>
              <a:gd name="adj" fmla="val 3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16636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Real-time risk score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B020"/>
                </a:solidFill>
              </a:rPr>
              <a:t>Risk &gt; 0.5  triggers an ALERT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9E3"/>
                </a:solidFill>
              </a:rPr>
              <a:t>Sample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9E3"/>
                </a:solidFill>
              </a:rPr>
              <a:t>Risk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9E3"/>
                </a:solidFill>
              </a:rPr>
              <a:t>Status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2578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354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2578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0.006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2578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</a:rPr>
              <a:t>OK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166360" y="29626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569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29626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0.012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29626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</a:rPr>
              <a:t>OK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166360" y="33467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1903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309360" y="33467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0.006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452360" y="33467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</a:rPr>
              <a:t>OK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166360" y="3730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663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3730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0.000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452360" y="3730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</a:rPr>
              <a:t>OK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166360" y="4160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B9E3"/>
                </a:solidFill>
              </a:rPr>
              <a:t>Examples from the notebook demo (10 random test samples, all healthy and correctly scored).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26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11  PROS AND CONS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Honest strengths and limits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4046220" cy="3291840"/>
          </a:xfrm>
          <a:prstGeom prst="roundRect">
            <a:avLst>
              <a:gd name="adj" fmla="val 3333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iconbg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547622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447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Strengths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5740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Catches 79% of real failures early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98% accuracy, ROC-AUC 0.98 on unseen data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Explainable: SHAP shows why an alert fires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Fast: XGBoost trains in 0.55 s on CPU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Clear ROI: 75.8% lower cost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40580" y="1325880"/>
            <a:ext cx="4046220" cy="3291840"/>
          </a:xfrm>
          <a:prstGeom prst="roundRect">
            <a:avLst>
              <a:gd name="adj" fmla="val 3333"/>
            </a:avLst>
          </a:prstGeom>
          <a:solidFill>
            <a:srgbClr val="F43F9D">
              <a:alpha val="10000"/>
            </a:srgbClr>
          </a:solidFill>
          <a:ln w="9525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iconbg"/>
          <p:cNvSpPr/>
          <p:nvPr/>
        </p:nvSpPr>
        <p:spPr>
          <a:xfrm>
            <a:off x="4823460" y="1444752"/>
            <a:ext cx="411480" cy="411480"/>
          </a:xfrm>
          <a:prstGeom prst="ellipse">
            <a:avLst/>
          </a:prstGeom>
          <a:solidFill>
            <a:srgbClr val="F43F9D"/>
          </a:solidFill>
          <a:ln w="12700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330" y="1547622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2100" y="14447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869180" y="205740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Precision 0.67: about 1 alert in 3 is false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14 of 68 failures still missed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Synthetic dataset: validate on real plant data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EGP costs are assumptions; one split, no tuning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Isolation Forest is weak (34 of 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</a:rPr>
              <a:t>12  HOW TO USE 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notebook to the factory floor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iconbg"/>
          <p:cNvSpPr/>
          <p:nvPr/>
        </p:nvSpPr>
        <p:spPr>
          <a:xfrm>
            <a:off x="594360" y="1389888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492758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Production lines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94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Score CNC and milling machines continuously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2560320" y="128016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iconbg"/>
          <p:cNvSpPr/>
          <p:nvPr/>
        </p:nvSpPr>
        <p:spPr>
          <a:xfrm>
            <a:off x="2697480" y="1389888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350" y="1492758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Maintenance plans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194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Service by risk, not by calendar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663440" y="128016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conbg"/>
          <p:cNvSpPr/>
          <p:nvPr/>
        </p:nvSpPr>
        <p:spPr>
          <a:xfrm>
            <a:off x="4800600" y="1389888"/>
            <a:ext cx="411480" cy="41148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470" y="1492758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0060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Spare parts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2194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Stock tools before they wear out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766560" y="128016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B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iconbg"/>
          <p:cNvSpPr/>
          <p:nvPr/>
        </p:nvSpPr>
        <p:spPr>
          <a:xfrm>
            <a:off x="6903720" y="1389888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590" y="1492758"/>
            <a:ext cx="205740" cy="2057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Safety and quality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2194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9E3"/>
                </a:solidFill>
              </a:rPr>
              <a:t>Fewer sudden breakdowns and defects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457200" y="31089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22D3EE">
              <a:alpha val="12000"/>
            </a:srgbClr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64008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</a:rPr>
              <a:t>Phase 1: Pilot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One line, offline scoring, tune the alert threshold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3246120" y="31089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43F9D">
              <a:alpha val="12000"/>
            </a:srgbClr>
          </a:solidFill>
          <a:ln w="9525">
            <a:solidFill>
              <a:srgbClr val="F43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342900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3F9D"/>
                </a:solidFill>
              </a:rPr>
              <a:t>Phase 2: Integrate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342900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FastAPI service + SCADA/MES feed + dashboard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6035040" y="31089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621792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Phase 3: Scale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621792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Retrain on plant data, monitor drift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9E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26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eon Factory">
  <a:themeElements>
    <a:clrScheme name="Neon Factory">
      <a:dk1>
        <a:srgbClr val="070B1F"/>
      </a:dk1>
      <a:lt1>
        <a:srgbClr val="FFFFFF"/>
      </a:lt1>
      <a:dk2>
        <a:srgbClr val="12183A"/>
      </a:dk2>
      <a:lt2>
        <a:srgbClr val="C9D3F5"/>
      </a:lt2>
      <a:accent1>
        <a:srgbClr val="22D3EE"/>
      </a:accent1>
      <a:accent2>
        <a:srgbClr val="F43F9D"/>
      </a:accent2>
      <a:accent3>
        <a:srgbClr val="8B5CF6"/>
      </a:accent3>
      <a:accent4>
        <a:srgbClr val="FFB020"/>
      </a:accent4>
      <a:accent5>
        <a:srgbClr val="34D399"/>
      </a:accent5>
      <a:accent6>
        <a:srgbClr val="FF6B35"/>
      </a:accent6>
      <a:hlink>
        <a:srgbClr val="22D3EE"/>
      </a:hlink>
      <a:folHlink>
        <a:srgbClr val="8B5CF6"/>
      </a:folHlink>
    </a:clrScheme>
    <a:fontScheme name="Neon Fact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1057</Words>
  <Application>Microsoft Office PowerPoint</Application>
  <PresentationFormat>On-screen Show (16:9)</PresentationFormat>
  <Paragraphs>240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Neon Factory</vt:lpstr>
      <vt:lpstr>Predictive Maintenance for the Smart Factory</vt:lpstr>
      <vt:lpstr>From reacting to predicting</vt:lpstr>
      <vt:lpstr>The AI4I 2020 dataset</vt:lpstr>
      <vt:lpstr>Six steps from raw data to decisions</vt:lpstr>
      <vt:lpstr>Five steps in Google Colab</vt:lpstr>
      <vt:lpstr>Physics turned into features</vt:lpstr>
      <vt:lpstr>XGBoost wins on balance</vt:lpstr>
      <vt:lpstr>Where the model is right and wrong</vt:lpstr>
      <vt:lpstr>Why the model decides: SHAP</vt:lpstr>
      <vt:lpstr>What the model is worth</vt:lpstr>
      <vt:lpstr>What the project delivers</vt:lpstr>
      <vt:lpstr>Honest strengths and limits</vt:lpstr>
      <vt:lpstr>From notebook to the factory floor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for Smart Factory</dc:title>
  <dc:subject>PptxGenJS Presentation</dc:subject>
  <dc:creator>Yousef Abdallah Khamis</dc:creator>
  <cp:lastModifiedBy>yossif abdallah</cp:lastModifiedBy>
  <cp:revision>2</cp:revision>
  <dcterms:created xsi:type="dcterms:W3CDTF">2026-10-04T14:14:32Z</dcterms:created>
  <dcterms:modified xsi:type="dcterms:W3CDTF">2026-10-04T14:19:34Z</dcterms:modified>
</cp:coreProperties>
</file>